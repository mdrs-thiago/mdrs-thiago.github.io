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Inter SemiBold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Open Sans SemiBold"/>
      <p:regular r:id="rId29"/>
      <p:bold r:id="rId30"/>
      <p:italic r:id="rId31"/>
      <p:boldItalic r:id="rId32"/>
    </p:embeddedFont>
    <p:embeddedFont>
      <p:font typeface="Inter ExtraBold"/>
      <p:bold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  <p:embeddedFont>
      <p:font typeface="Inter Black"/>
      <p:bold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Black-boldItalic.fntdata"/><Relationship Id="rId20" Type="http://schemas.openxmlformats.org/officeDocument/2006/relationships/slide" Target="slides/slide15.xml"/><Relationship Id="rId22" Type="http://schemas.openxmlformats.org/officeDocument/2006/relationships/font" Target="fonts/InterSemiBold-bold.fntdata"/><Relationship Id="rId21" Type="http://schemas.openxmlformats.org/officeDocument/2006/relationships/font" Target="fonts/InterSemiBold-regular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SemiBold-italic.fntdata"/><Relationship Id="rId30" Type="http://schemas.openxmlformats.org/officeDocument/2006/relationships/font" Target="fonts/OpenSansSemiBold-bold.fntdata"/><Relationship Id="rId11" Type="http://schemas.openxmlformats.org/officeDocument/2006/relationships/slide" Target="slides/slide6.xml"/><Relationship Id="rId33" Type="http://schemas.openxmlformats.org/officeDocument/2006/relationships/font" Target="fonts/InterExtraBold-bold.fntdata"/><Relationship Id="rId10" Type="http://schemas.openxmlformats.org/officeDocument/2006/relationships/slide" Target="slides/slide5.xml"/><Relationship Id="rId32" Type="http://schemas.openxmlformats.org/officeDocument/2006/relationships/font" Target="fonts/OpenSansSemiBold-boldItalic.fntdata"/><Relationship Id="rId13" Type="http://schemas.openxmlformats.org/officeDocument/2006/relationships/slide" Target="slides/slide8.xml"/><Relationship Id="rId35" Type="http://schemas.openxmlformats.org/officeDocument/2006/relationships/font" Target="fonts/OpenSans-regular.fntdata"/><Relationship Id="rId12" Type="http://schemas.openxmlformats.org/officeDocument/2006/relationships/slide" Target="slides/slide7.xml"/><Relationship Id="rId34" Type="http://schemas.openxmlformats.org/officeDocument/2006/relationships/font" Target="fonts/InterExtraBold-boldItalic.fntdata"/><Relationship Id="rId15" Type="http://schemas.openxmlformats.org/officeDocument/2006/relationships/slide" Target="slides/slide10.xml"/><Relationship Id="rId37" Type="http://schemas.openxmlformats.org/officeDocument/2006/relationships/font" Target="fonts/OpenSans-italic.fntdata"/><Relationship Id="rId14" Type="http://schemas.openxmlformats.org/officeDocument/2006/relationships/slide" Target="slides/slide9.xml"/><Relationship Id="rId36" Type="http://schemas.openxmlformats.org/officeDocument/2006/relationships/font" Target="fonts/OpenSans-bold.fntdata"/><Relationship Id="rId17" Type="http://schemas.openxmlformats.org/officeDocument/2006/relationships/slide" Target="slides/slide12.xml"/><Relationship Id="rId39" Type="http://schemas.openxmlformats.org/officeDocument/2006/relationships/font" Target="fonts/InterBlack-bold.fntdata"/><Relationship Id="rId16" Type="http://schemas.openxmlformats.org/officeDocument/2006/relationships/slide" Target="slides/slide11.xml"/><Relationship Id="rId38" Type="http://schemas.openxmlformats.org/officeDocument/2006/relationships/font" Target="fonts/OpenSans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3861a6a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73861a6a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3861a6ad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3861a6ad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57fce3e65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457fce3e65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3861a6ad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73861a6ad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3861a6ad6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73861a6ad6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3861a6ad6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3861a6ad6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4b8383ec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64b8383ec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64b8383ec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64b8383ec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3861a6ad6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73861a6ad6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3861a6ad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73861a6ad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3861a6ad6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73861a6ad6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3861a6ad6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73861a6ad6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3861a6ad6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3861a6ad6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73861a6ad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73861a6ad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gif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google.com/spreadsheets/d/10DvDohm08Xnb070cC0HGsE4HhaD6UjiAO3sXCR1Zv44/edit?usp=sharing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Relationship Id="rId5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nter"/>
                <a:ea typeface="Inter"/>
                <a:cs typeface="Inter"/>
                <a:sym typeface="Inter"/>
              </a:rPr>
              <a:t>Projeto Integrado de Introdução à IA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8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397"/>
              <a:t>Uma breve perspectiva sobre a disciplina BIA1101</a:t>
            </a:r>
            <a:endParaRPr sz="2397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2397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897"/>
              <a:t>Thiago Medeiros Carvalho</a:t>
            </a:r>
            <a:endParaRPr sz="1897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897"/>
              <a:t>Pontif</a:t>
            </a:r>
            <a:r>
              <a:rPr lang="en" sz="1897"/>
              <a:t>ícia Universidade Católica do Rio de Janeiro</a:t>
            </a:r>
            <a:endParaRPr sz="1897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2397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5750" y="4127725"/>
            <a:ext cx="535850" cy="93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7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Inter ExtraBold"/>
                <a:ea typeface="Inter ExtraBold"/>
                <a:cs typeface="Inter ExtraBold"/>
                <a:sym typeface="Inter ExtraBold"/>
              </a:rPr>
              <a:t>Introdução ao Curso</a:t>
            </a:r>
            <a:endParaRPr sz="36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2054775" y="2571750"/>
            <a:ext cx="1136100" cy="4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Inter"/>
                <a:ea typeface="Inter"/>
                <a:cs typeface="Inter"/>
                <a:sym typeface="Inter"/>
              </a:rPr>
              <a:t>Objetivo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5302800" y="2571750"/>
            <a:ext cx="2393400" cy="4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Inter SemiBold"/>
                <a:ea typeface="Inter SemiBold"/>
                <a:cs typeface="Inter SemiBold"/>
                <a:sym typeface="Inter SemiBold"/>
              </a:rPr>
              <a:t>Público-Alvo</a:t>
            </a:r>
            <a:endParaRPr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921225" y="3114600"/>
            <a:ext cx="3403200" cy="12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latin typeface="Open Sans SemiBold"/>
                <a:ea typeface="Open Sans SemiBold"/>
                <a:cs typeface="Open Sans SemiBold"/>
                <a:sym typeface="Open Sans SemiBold"/>
              </a:rPr>
              <a:t>Capacitar o aluno a desenvolver projetos envolvendo Inteligência Artificial com foco nos impactos sociais. </a:t>
            </a:r>
            <a:endParaRPr sz="15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4407375" y="3114600"/>
            <a:ext cx="3403200" cy="12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latin typeface="Open Sans SemiBold"/>
                <a:ea typeface="Open Sans SemiBold"/>
                <a:cs typeface="Open Sans SemiBold"/>
                <a:sym typeface="Open Sans SemiBold"/>
              </a:rPr>
              <a:t>Alunos com o interesse em desenvolvimento de ideias, sem pré-requisito em programação ou conhecimento profundo em IA.</a:t>
            </a:r>
            <a:endParaRPr sz="15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pic>
        <p:nvPicPr>
          <p:cNvPr descr="a dart is in the center of a target (Provided by Tenor)"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941" y="1252486"/>
            <a:ext cx="1495760" cy="12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7425" y="1179175"/>
            <a:ext cx="1423100" cy="142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55750" y="4127725"/>
            <a:ext cx="535850" cy="93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7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Inter ExtraBold"/>
                <a:ea typeface="Inter ExtraBold"/>
                <a:cs typeface="Inter ExtraBold"/>
                <a:sym typeface="Inter ExtraBold"/>
              </a:rPr>
              <a:t>Introdução ao Curso</a:t>
            </a:r>
            <a:endParaRPr sz="36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1354725" y="2647950"/>
            <a:ext cx="1469400" cy="4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Inter"/>
                <a:ea typeface="Inter"/>
                <a:cs typeface="Inter"/>
                <a:sym typeface="Inter"/>
              </a:rPr>
              <a:t>Relevância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87825" y="3190800"/>
            <a:ext cx="3403200" cy="12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latin typeface="Open Sans SemiBold"/>
                <a:ea typeface="Open Sans SemiBold"/>
                <a:cs typeface="Open Sans SemiBold"/>
                <a:sym typeface="Open Sans SemiBold"/>
              </a:rPr>
              <a:t>Desenvolver projetos de automação usando Inteligência Artificial é uma habilidade muito valorizada </a:t>
            </a:r>
            <a:endParaRPr sz="15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825" y="1274700"/>
            <a:ext cx="5048172" cy="3232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5825" y="2201942"/>
            <a:ext cx="5048175" cy="1377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8438" y="1665975"/>
            <a:ext cx="981975" cy="98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55750" y="4127725"/>
            <a:ext cx="535850" cy="93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" sz="3600">
                <a:latin typeface="Inter ExtraBold"/>
                <a:ea typeface="Inter ExtraBold"/>
                <a:cs typeface="Inter ExtraBold"/>
                <a:sym typeface="Inter ExtraBold"/>
              </a:rPr>
              <a:t>Apresentação Pessoal</a:t>
            </a:r>
            <a:endParaRPr sz="3600"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 SemiBold"/>
                <a:ea typeface="Open Sans SemiBold"/>
                <a:cs typeface="Open Sans SemiBold"/>
                <a:sym typeface="Open Sans SemiBold"/>
              </a:rPr>
              <a:t>Trabalho com a área de computação (especialmente Deep Learning) desde 2019.</a:t>
            </a:r>
            <a:endParaRPr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Open Sans SemiBold"/>
                <a:ea typeface="Open Sans SemiBold"/>
                <a:cs typeface="Open Sans SemiBold"/>
                <a:sym typeface="Open Sans SemiBold"/>
              </a:rPr>
              <a:t>Também já trabalhei em projetos de robótica agrícola, detecção de fraudes e, mais recentemente, em desenvolvimento de chatbots.</a:t>
            </a:r>
            <a:endParaRPr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7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Inter ExtraBold"/>
                <a:ea typeface="Inter ExtraBold"/>
                <a:cs typeface="Inter ExtraBold"/>
                <a:sym typeface="Inter ExtraBold"/>
              </a:rPr>
              <a:t>A Jornada do Aluno</a:t>
            </a:r>
            <a:endParaRPr sz="36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923625" y="2647950"/>
            <a:ext cx="1722000" cy="4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Inter"/>
                <a:ea typeface="Inter"/>
                <a:cs typeface="Inter"/>
                <a:sym typeface="Inter"/>
              </a:rPr>
              <a:t>Fundamentos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1216575" y="1457388"/>
            <a:ext cx="1136100" cy="1133400"/>
          </a:xfrm>
          <a:prstGeom prst="ellipse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Inter"/>
                <a:ea typeface="Inter"/>
                <a:cs typeface="Inter"/>
                <a:sym typeface="Inter"/>
              </a:rPr>
              <a:t>1</a:t>
            </a:r>
            <a:endParaRPr b="1" sz="3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400050" y="3190800"/>
            <a:ext cx="2487900" cy="12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latin typeface="Open Sans SemiBold"/>
                <a:ea typeface="Open Sans SemiBold"/>
                <a:cs typeface="Open Sans SemiBold"/>
                <a:sym typeface="Open Sans SemiBold"/>
              </a:rPr>
              <a:t>Iniciamos com os conceitos de IA, LLMs e Agentes.</a:t>
            </a:r>
            <a:endParaRPr sz="15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6400500" y="2647950"/>
            <a:ext cx="1988700" cy="4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Inter"/>
                <a:ea typeface="Inter"/>
                <a:cs typeface="Inter"/>
                <a:sym typeface="Inter"/>
              </a:rPr>
              <a:t>Mão na Massa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6826800" y="1457388"/>
            <a:ext cx="1136100" cy="1133400"/>
          </a:xfrm>
          <a:prstGeom prst="ellipse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Inter"/>
                <a:ea typeface="Inter"/>
                <a:cs typeface="Inter"/>
                <a:sym typeface="Inter"/>
              </a:rPr>
              <a:t>3</a:t>
            </a:r>
            <a:endParaRPr b="1" sz="3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6228000" y="3190800"/>
            <a:ext cx="2333700" cy="12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latin typeface="Open Sans SemiBold"/>
                <a:ea typeface="Open Sans SemiBold"/>
                <a:cs typeface="Open Sans SemiBold"/>
                <a:sym typeface="Open Sans SemiBold"/>
              </a:rPr>
              <a:t>Desenvolvimento de um projeto com impacto social</a:t>
            </a:r>
            <a:endParaRPr sz="15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3728752" y="2647950"/>
            <a:ext cx="1722000" cy="4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Inter"/>
                <a:ea typeface="Inter"/>
                <a:cs typeface="Inter"/>
                <a:sym typeface="Inter"/>
              </a:rPr>
              <a:t>Ferramentas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4021688" y="1457388"/>
            <a:ext cx="1136100" cy="1133400"/>
          </a:xfrm>
          <a:prstGeom prst="ellipse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Inter"/>
                <a:ea typeface="Inter"/>
                <a:cs typeface="Inter"/>
                <a:sym typeface="Inter"/>
              </a:rPr>
              <a:t>2</a:t>
            </a:r>
            <a:endParaRPr b="1" sz="3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3328050" y="3133650"/>
            <a:ext cx="2487900" cy="12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latin typeface="Open Sans SemiBold"/>
                <a:ea typeface="Open Sans SemiBold"/>
                <a:cs typeface="Open Sans SemiBold"/>
                <a:sym typeface="Open Sans SemiBold"/>
              </a:rPr>
              <a:t>Apresentação de ferramentas no-code e integrações usando LLMs </a:t>
            </a:r>
            <a:endParaRPr sz="15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101" name="Google Shape;101;p17"/>
          <p:cNvCxnSpPr>
            <a:stCxn id="93" idx="6"/>
            <a:endCxn id="99" idx="2"/>
          </p:cNvCxnSpPr>
          <p:nvPr/>
        </p:nvCxnSpPr>
        <p:spPr>
          <a:xfrm>
            <a:off x="2352675" y="2024088"/>
            <a:ext cx="16689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02" name="Google Shape;102;p17"/>
          <p:cNvCxnSpPr/>
          <p:nvPr/>
        </p:nvCxnSpPr>
        <p:spPr>
          <a:xfrm>
            <a:off x="5157800" y="2033613"/>
            <a:ext cx="16689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triangle"/>
          </a:ln>
        </p:spPr>
      </p:cxnSp>
      <p:pic>
        <p:nvPicPr>
          <p:cNvPr id="103" name="Google Shape;10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5750" y="4127725"/>
            <a:ext cx="535850" cy="93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311700" y="445025"/>
            <a:ext cx="8520600" cy="7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Inter ExtraBold"/>
                <a:ea typeface="Inter ExtraBold"/>
                <a:cs typeface="Inter ExtraBold"/>
                <a:sym typeface="Inter ExtraBold"/>
              </a:rPr>
              <a:t>A Jornada do Aluno</a:t>
            </a:r>
            <a:endParaRPr sz="36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1437975" y="2647950"/>
            <a:ext cx="1722000" cy="4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Inter"/>
                <a:ea typeface="Inter"/>
                <a:cs typeface="Inter"/>
                <a:sym typeface="Inter"/>
              </a:rPr>
              <a:t>Avaliação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827925" y="3190800"/>
            <a:ext cx="2942100" cy="15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latin typeface="Open Sans SemiBold"/>
                <a:ea typeface="Open Sans SemiBold"/>
                <a:cs typeface="Open Sans SemiBold"/>
                <a:sym typeface="Open Sans SemiBold"/>
              </a:rPr>
              <a:t>Para assimilar os fundamentos, serão utilizadas atividades de quizzes, trabalhos práticos e resolução de problemas reais.</a:t>
            </a:r>
            <a:endParaRPr sz="15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5525375" y="2647950"/>
            <a:ext cx="2376900" cy="4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Inter"/>
                <a:ea typeface="Inter"/>
                <a:cs typeface="Inter"/>
                <a:sym typeface="Inter"/>
              </a:rPr>
              <a:t>Sprints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5279675" y="3133650"/>
            <a:ext cx="2868300" cy="12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latin typeface="Open Sans SemiBold"/>
                <a:ea typeface="Open Sans SemiBold"/>
                <a:cs typeface="Open Sans SemiBold"/>
                <a:sym typeface="Open Sans SemiBold"/>
              </a:rPr>
              <a:t>Acompanhamento dos projetos por meio de rubricas e apresentações.</a:t>
            </a:r>
            <a:endParaRPr sz="15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pic>
        <p:nvPicPr>
          <p:cNvPr id="113" name="Google Shape;1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5750" y="4127725"/>
            <a:ext cx="535850" cy="93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8550" y="1428825"/>
            <a:ext cx="1190550" cy="11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3704" y="1529932"/>
            <a:ext cx="1190550" cy="1190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" sz="3600">
                <a:latin typeface="Inter ExtraBold"/>
                <a:ea typeface="Inter ExtraBold"/>
                <a:cs typeface="Inter ExtraBold"/>
                <a:sym typeface="Inter ExtraBold"/>
              </a:rPr>
              <a:t>A Jornada do Aluno</a:t>
            </a:r>
            <a:endParaRPr sz="3600"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19"/>
          <p:cNvPicPr preferRelativeResize="0"/>
          <p:nvPr/>
        </p:nvPicPr>
        <p:blipFill rotWithShape="1">
          <a:blip r:embed="rId3">
            <a:alphaModFix/>
          </a:blip>
          <a:srcRect b="0" l="0" r="0" t="1960"/>
          <a:stretch/>
        </p:blipFill>
        <p:spPr>
          <a:xfrm>
            <a:off x="2149675" y="1258525"/>
            <a:ext cx="4844626" cy="3675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5750" y="4127725"/>
            <a:ext cx="535850" cy="93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" sz="3600">
                <a:latin typeface="Inter ExtraBold"/>
                <a:ea typeface="Inter ExtraBold"/>
                <a:cs typeface="Inter ExtraBold"/>
                <a:sym typeface="Inter ExtraBold"/>
              </a:rPr>
              <a:t>A Jornada do Aluno</a:t>
            </a:r>
            <a:endParaRPr sz="3600"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latin typeface="Open Sans SemiBold"/>
                <a:ea typeface="Open Sans SemiBold"/>
                <a:cs typeface="Open Sans SemiBold"/>
                <a:sym typeface="Open Sans SemiBold"/>
              </a:rPr>
              <a:t>O plano de aulas (sujeito à mudanças) está disponível no EaD.</a:t>
            </a:r>
            <a:endParaRPr sz="1500"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Open Sans SemiBold"/>
                <a:ea typeface="Open Sans SemiBold"/>
                <a:cs typeface="Open Sans SemiBold"/>
                <a:sym typeface="Open Sans SemiBold"/>
              </a:rPr>
              <a:t>Você pode acessar</a:t>
            </a:r>
            <a:r>
              <a:rPr lang="en" sz="1500">
                <a:uFill>
                  <a:noFill/>
                </a:uFill>
                <a:latin typeface="Open Sans SemiBold"/>
                <a:ea typeface="Open Sans SemiBold"/>
                <a:cs typeface="Open Sans SemiBold"/>
                <a:sym typeface="Open Sans SemiBold"/>
                <a:hlinkClick r:id="rId3"/>
              </a:rPr>
              <a:t> neste link.</a:t>
            </a:r>
            <a:endParaRPr sz="1500"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" sz="3600">
                <a:latin typeface="Inter ExtraBold"/>
                <a:ea typeface="Inter ExtraBold"/>
                <a:cs typeface="Inter ExtraBold"/>
                <a:sym typeface="Inter ExtraBold"/>
              </a:rPr>
              <a:t>A Jornada do Aluno</a:t>
            </a:r>
            <a:endParaRPr sz="3600"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 SemiBold"/>
                <a:ea typeface="Open Sans SemiBold"/>
                <a:cs typeface="Open Sans SemiBold"/>
                <a:sym typeface="Open Sans SemiBold"/>
              </a:rPr>
              <a:t>A disciplina será dividida em dois momentos principais.</a:t>
            </a:r>
            <a:endParaRPr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Open Sans"/>
              <a:buAutoNum type="arabicPeriod"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Apresentação de conteúdos teóricos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Open Sans SemiBold"/>
                <a:ea typeface="Open Sans SemiBold"/>
                <a:cs typeface="Open Sans SemiBold"/>
                <a:sym typeface="Open Sans SemiBold"/>
              </a:rPr>
              <a:t>Um breve histórico sobre IA, como funcionam os LLMs, LLM como agente, ferramentas no-code (n8n).</a:t>
            </a:r>
            <a:endParaRPr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Open Sans"/>
              <a:buAutoNum type="arabicPeriod"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Desenvolvimento do Projeto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Open Sans SemiBold"/>
                <a:ea typeface="Open Sans SemiBold"/>
                <a:cs typeface="Open Sans SemiBold"/>
                <a:sym typeface="Open Sans SemiBold"/>
              </a:rPr>
              <a:t>Apoio em sala de aula para o andamento do projeto.</a:t>
            </a:r>
            <a:endParaRPr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311700" y="445025"/>
            <a:ext cx="8520600" cy="7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Inter ExtraBold"/>
                <a:ea typeface="Inter ExtraBold"/>
                <a:cs typeface="Inter ExtraBold"/>
                <a:sym typeface="Inter ExtraBold"/>
              </a:rPr>
              <a:t>Integração com Disciplinas</a:t>
            </a:r>
            <a:endParaRPr sz="36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817725" y="2647950"/>
            <a:ext cx="1933800" cy="4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Inter"/>
                <a:ea typeface="Inter"/>
                <a:cs typeface="Inter"/>
                <a:sym typeface="Inter"/>
              </a:rPr>
              <a:t>IA e Sociedade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" name="Google Shape;141;p22"/>
          <p:cNvSpPr/>
          <p:nvPr/>
        </p:nvSpPr>
        <p:spPr>
          <a:xfrm>
            <a:off x="1060725" y="1252490"/>
            <a:ext cx="1447800" cy="1352700"/>
          </a:xfrm>
          <a:prstGeom prst="verticalScroll">
            <a:avLst>
              <a:gd fmla="val 12500" name="adj"/>
            </a:avLst>
          </a:prstGeom>
          <a:solidFill>
            <a:srgbClr val="B6D7A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540675" y="3090675"/>
            <a:ext cx="2487900" cy="12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latin typeface="Open Sans SemiBold"/>
                <a:ea typeface="Open Sans SemiBold"/>
                <a:cs typeface="Open Sans SemiBold"/>
                <a:sym typeface="Open Sans SemiBold"/>
              </a:rPr>
              <a:t>As discussões sobre ética, viés e privacidade serão aplicadas diretamente na concepção do projeto</a:t>
            </a:r>
            <a:endParaRPr sz="15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6436050" y="2647950"/>
            <a:ext cx="2376900" cy="4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Inter"/>
                <a:ea typeface="Inter"/>
                <a:cs typeface="Inter"/>
                <a:sym typeface="Inter"/>
              </a:rPr>
              <a:t>Gestão de Projetos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6856954" y="1238240"/>
            <a:ext cx="1535100" cy="1381200"/>
          </a:xfrm>
          <a:prstGeom prst="verticalScroll">
            <a:avLst>
              <a:gd fmla="val 12500" name="adj"/>
            </a:avLst>
          </a:prstGeom>
          <a:solidFill>
            <a:srgbClr val="B6D7A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6416700" y="3090675"/>
            <a:ext cx="2415600" cy="12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latin typeface="Open Sans SemiBold"/>
                <a:ea typeface="Open Sans SemiBold"/>
                <a:cs typeface="Open Sans SemiBold"/>
                <a:sym typeface="Open Sans SemiBold"/>
              </a:rPr>
              <a:t>A metodologia de Sprints e a gestão de entregas serão aplicadas na prática</a:t>
            </a:r>
            <a:endParaRPr sz="15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3955088" y="2200200"/>
            <a:ext cx="1535100" cy="1381200"/>
          </a:xfrm>
          <a:prstGeom prst="verticalScroll">
            <a:avLst>
              <a:gd fmla="val 12500" name="adj"/>
            </a:avLst>
          </a:prstGeom>
          <a:solidFill>
            <a:srgbClr val="B6D7A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7" name="Google Shape;147;p22"/>
          <p:cNvCxnSpPr>
            <a:stCxn id="141" idx="3"/>
            <a:endCxn id="146" idx="1"/>
          </p:cNvCxnSpPr>
          <p:nvPr/>
        </p:nvCxnSpPr>
        <p:spPr>
          <a:xfrm>
            <a:off x="2339438" y="1928840"/>
            <a:ext cx="1788300" cy="962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lgDashDot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22"/>
          <p:cNvCxnSpPr>
            <a:stCxn id="144" idx="1"/>
            <a:endCxn id="146" idx="3"/>
          </p:cNvCxnSpPr>
          <p:nvPr/>
        </p:nvCxnSpPr>
        <p:spPr>
          <a:xfrm flipH="1">
            <a:off x="5317504" y="1928840"/>
            <a:ext cx="1712100" cy="962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lgDashDot"/>
            <a:round/>
            <a:headEnd len="med" w="med" type="none"/>
            <a:tailEnd len="med" w="med" type="triangle"/>
          </a:ln>
        </p:spPr>
      </p:cxn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3737675" y="2647950"/>
            <a:ext cx="1933800" cy="4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Inter"/>
                <a:ea typeface="Inter"/>
                <a:cs typeface="Inter"/>
                <a:sym typeface="Inter"/>
              </a:rPr>
              <a:t>BIA 1101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" name="Google Shape;150;p22"/>
          <p:cNvSpPr txBox="1"/>
          <p:nvPr>
            <p:ph idx="1" type="body"/>
          </p:nvPr>
        </p:nvSpPr>
        <p:spPr>
          <a:xfrm>
            <a:off x="6657600" y="1781250"/>
            <a:ext cx="1933800" cy="4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Inter"/>
                <a:ea typeface="Inter"/>
                <a:cs typeface="Inter"/>
                <a:sym typeface="Inter"/>
              </a:rPr>
              <a:t>BIA 1001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" name="Google Shape;151;p22"/>
          <p:cNvSpPr txBox="1"/>
          <p:nvPr>
            <p:ph idx="1" type="body"/>
          </p:nvPr>
        </p:nvSpPr>
        <p:spPr>
          <a:xfrm>
            <a:off x="817725" y="1781250"/>
            <a:ext cx="1933800" cy="4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Inter"/>
                <a:ea typeface="Inter"/>
                <a:cs typeface="Inter"/>
                <a:sym typeface="Inter"/>
              </a:rPr>
              <a:t>BIA 1002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3737675" y="3610075"/>
            <a:ext cx="1933800" cy="8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Inter"/>
                <a:ea typeface="Inter"/>
                <a:cs typeface="Inter"/>
                <a:sym typeface="Inter"/>
              </a:rPr>
              <a:t>Projeto Integrado de Introdução à IA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3" name="Google Shape;15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5750" y="4127725"/>
            <a:ext cx="535850" cy="93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311700" y="445025"/>
            <a:ext cx="8520600" cy="7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Inter ExtraBold"/>
                <a:ea typeface="Inter ExtraBold"/>
                <a:cs typeface="Inter ExtraBold"/>
                <a:sym typeface="Inter ExtraBold"/>
              </a:rPr>
              <a:t>Fundamentos Pedagógicos</a:t>
            </a:r>
            <a:endParaRPr sz="36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59" name="Google Shape;159;p23"/>
          <p:cNvSpPr txBox="1"/>
          <p:nvPr>
            <p:ph idx="1" type="body"/>
          </p:nvPr>
        </p:nvSpPr>
        <p:spPr>
          <a:xfrm>
            <a:off x="1795275" y="2724150"/>
            <a:ext cx="740700" cy="4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Inter"/>
                <a:ea typeface="Inter"/>
                <a:cs typeface="Inter"/>
                <a:sym typeface="Inter"/>
              </a:rPr>
              <a:t>PBL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" name="Google Shape;160;p23"/>
          <p:cNvSpPr txBox="1"/>
          <p:nvPr>
            <p:ph idx="1" type="body"/>
          </p:nvPr>
        </p:nvSpPr>
        <p:spPr>
          <a:xfrm>
            <a:off x="387825" y="3190800"/>
            <a:ext cx="3403200" cy="12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latin typeface="Open Sans SemiBold"/>
                <a:ea typeface="Open Sans SemiBold"/>
                <a:cs typeface="Open Sans SemiBold"/>
                <a:sym typeface="Open Sans SemiBold"/>
              </a:rPr>
              <a:t>O aluno irá aprender na prática, usando como problema gerador temas que os alunos tenham um grau de conhecimento.</a:t>
            </a:r>
            <a:endParaRPr sz="15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61" name="Google Shape;161;p23"/>
          <p:cNvSpPr txBox="1"/>
          <p:nvPr>
            <p:ph idx="1" type="body"/>
          </p:nvPr>
        </p:nvSpPr>
        <p:spPr>
          <a:xfrm>
            <a:off x="5388000" y="2724150"/>
            <a:ext cx="1880100" cy="4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Inter"/>
                <a:ea typeface="Inter"/>
                <a:cs typeface="Inter"/>
                <a:sym typeface="Inter"/>
              </a:rPr>
              <a:t>Competências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2" name="Google Shape;162;p23"/>
          <p:cNvSpPr txBox="1"/>
          <p:nvPr>
            <p:ph idx="1" type="body"/>
          </p:nvPr>
        </p:nvSpPr>
        <p:spPr>
          <a:xfrm>
            <a:off x="4626450" y="3190800"/>
            <a:ext cx="3403200" cy="12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latin typeface="Open Sans SemiBold"/>
                <a:ea typeface="Open Sans SemiBold"/>
                <a:cs typeface="Open Sans SemiBold"/>
                <a:sym typeface="Open Sans SemiBold"/>
              </a:rPr>
              <a:t>Foco no pensamento crítico e na resolução de problemas com base no conteúdo aprendido.</a:t>
            </a:r>
            <a:endParaRPr sz="15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pic>
        <p:nvPicPr>
          <p:cNvPr id="163" name="Google Shape;16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1186" y="1441650"/>
            <a:ext cx="1276477" cy="12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6248" y="1388100"/>
            <a:ext cx="1383600" cy="138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55750" y="4127725"/>
            <a:ext cx="535850" cy="93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/>
          <p:nvPr>
            <p:ph type="title"/>
          </p:nvPr>
        </p:nvSpPr>
        <p:spPr>
          <a:xfrm>
            <a:off x="311700" y="445025"/>
            <a:ext cx="8520600" cy="7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Inter ExtraBold"/>
                <a:ea typeface="Inter ExtraBold"/>
                <a:cs typeface="Inter ExtraBold"/>
                <a:sym typeface="Inter ExtraBold"/>
              </a:rPr>
              <a:t>Fundamentos Pedagógicos</a:t>
            </a:r>
            <a:endParaRPr sz="36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1" name="Google Shape;171;p24"/>
          <p:cNvSpPr txBox="1"/>
          <p:nvPr>
            <p:ph idx="1" type="body"/>
          </p:nvPr>
        </p:nvSpPr>
        <p:spPr>
          <a:xfrm>
            <a:off x="460425" y="2647950"/>
            <a:ext cx="3258000" cy="4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Inter"/>
                <a:ea typeface="Inter"/>
                <a:cs typeface="Inter"/>
                <a:sym typeface="Inter"/>
              </a:rPr>
              <a:t>Sem barreira tecnológica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" name="Google Shape;172;p24"/>
          <p:cNvSpPr txBox="1"/>
          <p:nvPr>
            <p:ph idx="1" type="body"/>
          </p:nvPr>
        </p:nvSpPr>
        <p:spPr>
          <a:xfrm>
            <a:off x="387825" y="3190800"/>
            <a:ext cx="3403200" cy="12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latin typeface="Open Sans SemiBold"/>
                <a:ea typeface="Open Sans SemiBold"/>
                <a:cs typeface="Open Sans SemiBold"/>
                <a:sym typeface="Open Sans SemiBold"/>
              </a:rPr>
              <a:t>Apresentação de ferramentas low-code e no-code, de modo a habilitar o aluno no desenvolvimento da solução.</a:t>
            </a:r>
            <a:endParaRPr sz="15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pic>
        <p:nvPicPr>
          <p:cNvPr id="173" name="Google Shape;17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3425" y="1381175"/>
            <a:ext cx="5200574" cy="3189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7446" y="1524000"/>
            <a:ext cx="112395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55750" y="4127725"/>
            <a:ext cx="535850" cy="93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>
            <p:ph type="title"/>
          </p:nvPr>
        </p:nvSpPr>
        <p:spPr>
          <a:xfrm>
            <a:off x="311700" y="445025"/>
            <a:ext cx="8520600" cy="7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Inter ExtraBold"/>
                <a:ea typeface="Inter ExtraBold"/>
                <a:cs typeface="Inter ExtraBold"/>
                <a:sym typeface="Inter ExtraBold"/>
              </a:rPr>
              <a:t>Gestão e Colaboração</a:t>
            </a:r>
            <a:endParaRPr sz="36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81" name="Google Shape;181;p25"/>
          <p:cNvSpPr txBox="1"/>
          <p:nvPr>
            <p:ph idx="1" type="body"/>
          </p:nvPr>
        </p:nvSpPr>
        <p:spPr>
          <a:xfrm>
            <a:off x="661875" y="2647950"/>
            <a:ext cx="2245500" cy="4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Inter"/>
                <a:ea typeface="Inter"/>
                <a:cs typeface="Inter"/>
                <a:sym typeface="Inter"/>
              </a:rPr>
              <a:t>Metodologias ágeis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" name="Google Shape;182;p25"/>
          <p:cNvSpPr txBox="1"/>
          <p:nvPr>
            <p:ph idx="1" type="body"/>
          </p:nvPr>
        </p:nvSpPr>
        <p:spPr>
          <a:xfrm>
            <a:off x="540675" y="3190800"/>
            <a:ext cx="2487900" cy="12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latin typeface="Open Sans SemiBold"/>
                <a:ea typeface="Open Sans SemiBold"/>
                <a:cs typeface="Open Sans SemiBold"/>
                <a:sym typeface="Open Sans SemiBold"/>
              </a:rPr>
              <a:t>O aluno vai poder vivenciar, na prática, o uso de ferramentas para gerenciamento de projeto</a:t>
            </a:r>
            <a:endParaRPr sz="15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83" name="Google Shape;183;p25"/>
          <p:cNvSpPr txBox="1"/>
          <p:nvPr>
            <p:ph idx="1" type="body"/>
          </p:nvPr>
        </p:nvSpPr>
        <p:spPr>
          <a:xfrm>
            <a:off x="6236575" y="2647950"/>
            <a:ext cx="2333700" cy="4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Inter"/>
                <a:ea typeface="Inter"/>
                <a:cs typeface="Inter"/>
                <a:sym typeface="Inter"/>
              </a:rPr>
              <a:t>Compartilhamento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" name="Google Shape;184;p25"/>
          <p:cNvSpPr txBox="1"/>
          <p:nvPr>
            <p:ph idx="1" type="body"/>
          </p:nvPr>
        </p:nvSpPr>
        <p:spPr>
          <a:xfrm>
            <a:off x="6228000" y="3190800"/>
            <a:ext cx="2333700" cy="12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Open Sans SemiBold"/>
                <a:ea typeface="Open Sans SemiBold"/>
                <a:cs typeface="Open Sans SemiBold"/>
                <a:sym typeface="Open Sans SemiBold"/>
              </a:rPr>
              <a:t>U</a:t>
            </a:r>
            <a:r>
              <a:rPr lang="en" sz="1500">
                <a:latin typeface="Open Sans SemiBold"/>
                <a:ea typeface="Open Sans SemiBold"/>
                <a:cs typeface="Open Sans SemiBold"/>
                <a:sym typeface="Open Sans SemiBold"/>
              </a:rPr>
              <a:t>so de ferramentas de trabalho em equipe, como GitHub</a:t>
            </a:r>
            <a:endParaRPr sz="15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85" name="Google Shape;185;p25"/>
          <p:cNvSpPr txBox="1"/>
          <p:nvPr>
            <p:ph idx="1" type="body"/>
          </p:nvPr>
        </p:nvSpPr>
        <p:spPr>
          <a:xfrm>
            <a:off x="3728752" y="2647950"/>
            <a:ext cx="1722000" cy="4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Inter"/>
                <a:ea typeface="Inter"/>
                <a:cs typeface="Inter"/>
                <a:sym typeface="Inter"/>
              </a:rPr>
              <a:t>Colaboração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6" name="Google Shape;186;p25"/>
          <p:cNvSpPr txBox="1"/>
          <p:nvPr>
            <p:ph idx="1" type="body"/>
          </p:nvPr>
        </p:nvSpPr>
        <p:spPr>
          <a:xfrm>
            <a:off x="3189737" y="3133650"/>
            <a:ext cx="2764500" cy="12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latin typeface="Open Sans SemiBold"/>
                <a:ea typeface="Open Sans SemiBold"/>
                <a:cs typeface="Open Sans SemiBold"/>
                <a:sym typeface="Open Sans SemiBold"/>
              </a:rPr>
              <a:t>Incentivo no trabalho em equipe, fomentando também o amadurecimento de soft skills</a:t>
            </a:r>
            <a:endParaRPr sz="15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pic>
        <p:nvPicPr>
          <p:cNvPr id="187" name="Google Shape;18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5050" y="1297163"/>
            <a:ext cx="1453875" cy="145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5750" y="4127725"/>
            <a:ext cx="535850" cy="93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56600" y="1385862"/>
            <a:ext cx="1276500" cy="12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91625" y="1358475"/>
            <a:ext cx="1331276" cy="133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>
            <p:ph type="title"/>
          </p:nvPr>
        </p:nvSpPr>
        <p:spPr>
          <a:xfrm>
            <a:off x="311700" y="445025"/>
            <a:ext cx="8520600" cy="7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Inter ExtraBold"/>
                <a:ea typeface="Inter ExtraBold"/>
                <a:cs typeface="Inter ExtraBold"/>
                <a:sym typeface="Inter ExtraBold"/>
              </a:rPr>
              <a:t>O que é esperado no final do curso</a:t>
            </a:r>
            <a:endParaRPr sz="36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96" name="Google Shape;196;p26"/>
          <p:cNvSpPr txBox="1"/>
          <p:nvPr>
            <p:ph idx="1" type="body"/>
          </p:nvPr>
        </p:nvSpPr>
        <p:spPr>
          <a:xfrm>
            <a:off x="661875" y="2647950"/>
            <a:ext cx="2487900" cy="4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Inter"/>
                <a:ea typeface="Inter"/>
                <a:cs typeface="Inter"/>
                <a:sym typeface="Inter"/>
              </a:rPr>
              <a:t>Habilidades práticas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26"/>
          <p:cNvSpPr txBox="1"/>
          <p:nvPr>
            <p:ph idx="1" type="body"/>
          </p:nvPr>
        </p:nvSpPr>
        <p:spPr>
          <a:xfrm>
            <a:off x="540675" y="3190800"/>
            <a:ext cx="2487900" cy="12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latin typeface="Open Sans SemiBold"/>
                <a:ea typeface="Open Sans SemiBold"/>
                <a:cs typeface="Open Sans SemiBold"/>
                <a:sym typeface="Open Sans SemiBold"/>
              </a:rPr>
              <a:t>O aluno irá sair da disciplina com a confiança de que sabe construir soluções</a:t>
            </a:r>
            <a:endParaRPr sz="15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98" name="Google Shape;198;p26"/>
          <p:cNvSpPr txBox="1"/>
          <p:nvPr>
            <p:ph idx="1" type="body"/>
          </p:nvPr>
        </p:nvSpPr>
        <p:spPr>
          <a:xfrm>
            <a:off x="6228000" y="2647950"/>
            <a:ext cx="2914500" cy="4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Inter"/>
                <a:ea typeface="Inter"/>
                <a:cs typeface="Inter"/>
                <a:sym typeface="Inter"/>
              </a:rPr>
              <a:t>Preparo para o Mercado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9" name="Google Shape;199;p26"/>
          <p:cNvSpPr txBox="1"/>
          <p:nvPr>
            <p:ph idx="1" type="body"/>
          </p:nvPr>
        </p:nvSpPr>
        <p:spPr>
          <a:xfrm>
            <a:off x="6518400" y="3190800"/>
            <a:ext cx="2333700" cy="12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latin typeface="Open Sans SemiBold"/>
                <a:ea typeface="Open Sans SemiBold"/>
                <a:cs typeface="Open Sans SemiBold"/>
                <a:sym typeface="Open Sans SemiBold"/>
              </a:rPr>
              <a:t>Desenvolvimento de competências que as empresas mais procuram</a:t>
            </a:r>
            <a:endParaRPr sz="15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00" name="Google Shape;200;p26"/>
          <p:cNvSpPr txBox="1"/>
          <p:nvPr>
            <p:ph idx="1" type="body"/>
          </p:nvPr>
        </p:nvSpPr>
        <p:spPr>
          <a:xfrm>
            <a:off x="3468049" y="2647950"/>
            <a:ext cx="2243400" cy="4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Inter"/>
                <a:ea typeface="Inter"/>
                <a:cs typeface="Inter"/>
                <a:sym typeface="Inter"/>
              </a:rPr>
              <a:t>Primeiro Portfólio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26"/>
          <p:cNvSpPr txBox="1"/>
          <p:nvPr>
            <p:ph idx="1" type="body"/>
          </p:nvPr>
        </p:nvSpPr>
        <p:spPr>
          <a:xfrm>
            <a:off x="3345800" y="3133650"/>
            <a:ext cx="2487900" cy="12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latin typeface="Open Sans SemiBold"/>
                <a:ea typeface="Open Sans SemiBold"/>
                <a:cs typeface="Open Sans SemiBold"/>
                <a:sym typeface="Open Sans SemiBold"/>
              </a:rPr>
              <a:t>Elaboração de um projeto que seja possível apresentar ao mercado de trabalho</a:t>
            </a:r>
            <a:endParaRPr sz="15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pic>
        <p:nvPicPr>
          <p:cNvPr id="202" name="Google Shape;20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2025" y="1326375"/>
            <a:ext cx="1395450" cy="139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7000" y="1385850"/>
            <a:ext cx="1276500" cy="12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6638" y="1356113"/>
            <a:ext cx="1335974" cy="1335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55750" y="4127725"/>
            <a:ext cx="535850" cy="93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latin typeface="Inter Black"/>
                <a:ea typeface="Inter Black"/>
                <a:cs typeface="Inter Black"/>
                <a:sym typeface="Inter Black"/>
              </a:rPr>
              <a:t>Obrigado!</a:t>
            </a:r>
            <a:endParaRPr sz="6500">
              <a:latin typeface="Inter Black"/>
              <a:ea typeface="Inter Black"/>
              <a:cs typeface="Inter Black"/>
              <a:sym typeface="Inter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