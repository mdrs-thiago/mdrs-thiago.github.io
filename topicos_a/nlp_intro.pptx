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ea2de59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ea2de59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ea2de596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ea2de596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ea2de596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ea2de596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ea2de596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ea2de596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ea2de596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ea2de596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ea2de596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ea2de596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ea2de596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ea2de596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ea2de596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ea2de596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ea2de596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ea2de596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ea2de596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ea2de596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ea2de596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ea2de596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ea2de596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ea2de596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5ea2de596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5ea2de596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ea2de596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5ea2de596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ea2de596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5ea2de596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ea2de596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ea2de596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ea2de596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ea2de596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ea2de596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ea2de596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ea2de596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ea2de596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ea2de596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ea2de596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ea2de5964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ea2de596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Processamento de Linguagem Natural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breve introduç</a:t>
            </a:r>
            <a:r>
              <a:rPr lang="pt-BR"/>
              <a:t>ão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</a:t>
            </a:r>
            <a:r>
              <a:rPr lang="pt-BR"/>
              <a:t>é o presente momento, vimos a aplicação de Redes Neurais em Visão Computacional e em Dados Tabulares.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Neste momento, investigaremos como podemos aplicar o mesmo conceito de Deep Learning para Processamento de Linguagem Natural.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Isto é, como iremos combinar </a:t>
            </a:r>
            <a:r>
              <a:rPr b="1" lang="pt-BR"/>
              <a:t>linguagem</a:t>
            </a:r>
            <a:r>
              <a:rPr lang="pt-BR"/>
              <a:t> com </a:t>
            </a:r>
            <a:r>
              <a:rPr b="1" lang="pt-BR"/>
              <a:t>matemática</a:t>
            </a:r>
            <a:r>
              <a:rPr lang="pt-BR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linguagem pode ser definida como um meio de comunicaç</a:t>
            </a:r>
            <a:r>
              <a:rPr lang="pt-BR"/>
              <a:t>ão por meio de sinais, que são orientadas por estruturas bem definidas de sintaxe, morfologia, semântica,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Entender e analisar a linguagem pode ser algo bem complexo, mesmo se considerarmos apenas uma língua (e.g., inglesa).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900" y="338138"/>
            <a:ext cx="6934200" cy="44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Existem diferentes desafios onde um modelo de Processamento de Linguagem Natural deve ser capaz de lidar.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Por exemplo, sempre consideramos que a nossa l</a:t>
            </a:r>
            <a:r>
              <a:rPr lang="pt-BR"/>
              <a:t>íngua é dinâmica. O que significa, por exemplo, o que é: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Tankar? </a:t>
            </a:r>
            <a:endParaRPr b="1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Flopado?</a:t>
            </a:r>
            <a:endParaRPr b="1"/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pode pá?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Tamb</a:t>
            </a:r>
            <a:r>
              <a:rPr lang="pt-BR"/>
              <a:t>ém temos problemas de ambiguidade, tanto sintático quanto semântico.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Por exemplo, o texto “Vamos comer pizza com anchovas” tem um significado óbvio para a gente, mas não deixa de ser ambíguo.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725" y="2682925"/>
            <a:ext cx="4962525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Temos diversos outros exemplos de casos de ambiguidade textual. Se é difícil para a gente, imagina para a máquina…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8450" y="1957200"/>
            <a:ext cx="3785825" cy="27354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2458463" y="2648450"/>
            <a:ext cx="227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2"/>
                </a:solidFill>
              </a:rPr>
              <a:t>Ele sabia demais</a:t>
            </a:r>
            <a:endParaRPr b="1" sz="1700">
              <a:solidFill>
                <a:schemeClr val="dk2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4410038" y="2648450"/>
            <a:ext cx="227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2"/>
                </a:solidFill>
              </a:rPr>
              <a:t>Ele sabia demais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E temos ainda outro problema: pluralidade de termos existentes.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Em Processamento de Linguagem Natural, usaremos tr</a:t>
            </a:r>
            <a:r>
              <a:rPr lang="pt-BR"/>
              <a:t>ês definições importantes: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Token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Documento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pt-BR"/>
              <a:t>Corpus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Definiremos token como a unidade b</a:t>
            </a:r>
            <a:r>
              <a:rPr lang="pt-BR"/>
              <a:t>ásica da informação textual. Tipicamente esse token pode ser: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pt-BR"/>
              <a:t>Palavra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pt-BR"/>
              <a:t>Sub-palavra</a:t>
            </a:r>
            <a:r>
              <a:rPr lang="pt-BR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pt-BR"/>
              <a:t>Caractere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Essa definição vai depender muito da tarefa que iremos utilizar e a arquitetura do modelo.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O token necessariamente estará mapeado dentro de um </a:t>
            </a:r>
            <a:r>
              <a:rPr b="1" lang="pt-BR"/>
              <a:t>vocabulário</a:t>
            </a:r>
            <a:r>
              <a:rPr lang="pt-BR"/>
              <a:t>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Documento </a:t>
            </a:r>
            <a:r>
              <a:rPr lang="pt-BR"/>
              <a:t>é a coleção de tokens em um texto. Dependendo do problema, o documento pode ser: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Uma frase (e.g., tweets).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Um parágrafo.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Um texto completo.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Sequência de caracteres.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Por fim, definimos </a:t>
            </a:r>
            <a:r>
              <a:rPr b="1" lang="pt-BR"/>
              <a:t>corpus </a:t>
            </a:r>
            <a:r>
              <a:rPr lang="pt-BR"/>
              <a:t>como</a:t>
            </a:r>
            <a:r>
              <a:rPr b="1" lang="pt-BR"/>
              <a:t> </a:t>
            </a:r>
            <a:r>
              <a:rPr lang="pt-BR"/>
              <a:t>uma coleção de documentos.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Termo importante: para cada documento, geralmente fazemos diferentes operaç</a:t>
            </a:r>
            <a:r>
              <a:rPr lang="pt-BR"/>
              <a:t>ões. A mais conhecida (e talvez a mais importante) seja a de </a:t>
            </a:r>
            <a:r>
              <a:rPr b="1" lang="pt-BR"/>
              <a:t>tokenização</a:t>
            </a:r>
            <a:r>
              <a:rPr lang="pt-BR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 ideia é transformar essa sequência de palavras em uma lista de tokens.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“Fui comprar pão na padaria”   -&gt;  [“Fui”, “comprar”, “pão”, “na”, “padaria”]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 qual </a:t>
            </a:r>
            <a:r>
              <a:rPr lang="pt-BR"/>
              <a:t>é a utilidade de Processamento de Linguagem Natural?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Podemos usá-la para diferentes aplicações. Na verdade, esta área tem maior aplicabilidade no dia-a-dia do que Visão Computacional, por exemplo. :-)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Análise de Sentimento</a:t>
            </a:r>
            <a:endParaRPr b="1"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 rotWithShape="1">
          <a:blip r:embed="rId3">
            <a:alphaModFix/>
          </a:blip>
          <a:srcRect b="29522" l="16520" r="16893" t="0"/>
          <a:stretch/>
        </p:blipFill>
        <p:spPr>
          <a:xfrm>
            <a:off x="2201338" y="1653704"/>
            <a:ext cx="4741324" cy="289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Classificação de texto</a:t>
            </a:r>
            <a:endParaRPr b="1"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4738" y="1681400"/>
            <a:ext cx="5614525" cy="288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Tradução de Máquina</a:t>
            </a:r>
            <a:endParaRPr b="1"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638" y="1762575"/>
            <a:ext cx="6486726" cy="32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Resposta à perguntas</a:t>
            </a:r>
            <a:endParaRPr b="1"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Q: </a:t>
            </a:r>
            <a:r>
              <a:rPr lang="pt-BR"/>
              <a:t>Quantos títulos do Campeonato Brasileiro tem o Flamengo?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A: 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Reconhecimento de Entidades Nomeadas</a:t>
            </a:r>
            <a:endParaRPr b="1"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1213" y="1795463"/>
            <a:ext cx="4981575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 qualquer forma, todas essas aplicaç</a:t>
            </a:r>
            <a:r>
              <a:rPr lang="pt-BR"/>
              <a:t>ões guardam algo em comum: queremos obter uma saída com base em uma entrada fornecida.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E, assim como vimos com outros modelos, no final queremos sempre encontrar</a:t>
            </a:r>
            <a:endParaRPr/>
          </a:p>
          <a:p>
            <a:pPr indent="457200" lvl="0" marL="3200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p(y|X)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O problema é: agora X é uma sequência de textos… como lidar?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Forma mais simples: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“E se eu tratasse como uma vari</a:t>
            </a:r>
            <a:r>
              <a:rPr lang="pt-BR"/>
              <a:t>ável categórica e fornecesse um rótulo pra ele?”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Nesse caso, a palavra seria representada por um vetor que, de alguma forma, indicaria de forma inequívoca o que ele representa.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Mas qual é o problema?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Temos cerca de 200000 voc</a:t>
            </a:r>
            <a:r>
              <a:rPr lang="pt-BR"/>
              <a:t>ábulos! Imagine se uma palavra fosse representada por um vetor de tamanho 200000, onde quase tudo é zero (exceto na posição referente à palavra)?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Veremos (na próxima aula) que temos uma forma bem eficiente para conseguir gerar uma representação mais densa desta informação. Chamaremos isso de </a:t>
            </a:r>
            <a:r>
              <a:rPr b="1" lang="pt-BR"/>
              <a:t>embedding</a:t>
            </a:r>
            <a:r>
              <a:rPr lang="pt-BR"/>
              <a:t>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81619"/>
            <a:ext cx="9143999" cy="3999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